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MiSans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3:30-d2nf84h8bjvh7rlj0950.jpg">    </p:cNvPr>
          <p:cNvPicPr>
            <a:picLocks noChangeAspect="1"/>
          </p:cNvPicPr>
          <p:nvPr/>
        </p:nvPicPr>
        <p:blipFill>
          <a:blip r:embed="rId1"/>
          <a:srcRect l="0" r="0" t="0" b="17387"/>
          <a:stretch/>
        </p:blipFill>
        <p:spPr>
          <a:xfrm>
            <a:off x="0" y="1131570"/>
            <a:ext cx="12193270" cy="57264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5745" y="2106295"/>
            <a:ext cx="9159875" cy="98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Dual-Vision World Engine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5155" y="5953760"/>
            <a:ext cx="19024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10020" y="5953760"/>
            <a:ext cx="2066925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2025/01/01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0-d2nf84h8bjvh7rlj095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6818" y="-3600"/>
            <a:ext cx="8025182" cy="686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46580" y="2451735"/>
            <a:ext cx="9869170" cy="354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Vision Unveiled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54100" y="2395855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56005" y="2363470"/>
            <a:ext cx="353695" cy="35433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056005" y="2363470"/>
            <a:ext cx="353695" cy="35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46580" y="3411220"/>
            <a:ext cx="9869170" cy="354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Shared Geometry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4100" y="3355340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6005" y="3313430"/>
            <a:ext cx="353695" cy="35433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1056005" y="3313430"/>
            <a:ext cx="353695" cy="35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46580" y="4380230"/>
            <a:ext cx="9869170" cy="354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Interaction Paradigms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4100" y="4324350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56005" y="4272915"/>
            <a:ext cx="353695" cy="35433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4" name="Text 11"/>
          <p:cNvSpPr/>
          <p:nvPr/>
        </p:nvSpPr>
        <p:spPr>
          <a:xfrm>
            <a:off x="1056005" y="4272915"/>
            <a:ext cx="353695" cy="35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46580" y="5358765"/>
            <a:ext cx="9869170" cy="354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Horizons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4100" y="5302885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56005" y="5241925"/>
            <a:ext cx="353695" cy="35433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1056005" y="5241925"/>
            <a:ext cx="353695" cy="35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41070" y="1193800"/>
            <a:ext cx="3903345" cy="679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>
                    <a:alpha val="54902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3-d2nf8598bjvh7rlj09bg.png">    </p:cNvPr>
          <p:cNvPicPr>
            <a:picLocks noChangeAspect="1"/>
          </p:cNvPicPr>
          <p:nvPr/>
        </p:nvPicPr>
        <p:blipFill>
          <a:blip r:embed="rId1"/>
          <a:srcRect l="8389" r="0" t="15000" b="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40180" y="3517900"/>
            <a:ext cx="951674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Vision Unveiled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3-d2nf8598bjvh7rlj09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012313"/>
            <a:ext cx="11103610" cy="5613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4900" y="2159361"/>
            <a:ext cx="637961" cy="637959"/>
          </a:xfrm>
          <a:prstGeom prst="ellipse">
            <a:avLst/>
          </a:prstGeom>
          <a:gradFill rotWithShape="1" flip="none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sx="100000" sy="100000" kx="0" ky="0" algn="bl" rotWithShape="0" blurRad="290837" dist="50607" dir="2700000">
              <a:srgbClr val="788fa3">
                <a:alpha val="6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004900" y="2159361"/>
            <a:ext cx="637961" cy="63795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91333" y="2325940"/>
            <a:ext cx="665096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72776" y="1692636"/>
            <a:ext cx="637540" cy="637959"/>
          </a:xfrm>
          <a:prstGeom prst="ellipse">
            <a:avLst/>
          </a:prstGeom>
          <a:gradFill rotWithShape="1" flip="none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sx="100000" sy="100000" kx="0" ky="0" algn="bl" rotWithShape="0" blurRad="290837" dist="50607" dir="2700000">
              <a:srgbClr val="788fa3">
                <a:alpha val="6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72776" y="1692636"/>
            <a:ext cx="637540" cy="63795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46298" y="1859215"/>
            <a:ext cx="665096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40231" y="2241911"/>
            <a:ext cx="637540" cy="637959"/>
          </a:xfrm>
          <a:prstGeom prst="ellipse">
            <a:avLst/>
          </a:prstGeom>
          <a:gradFill rotWithShape="1" flip="none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sx="100000" sy="100000" kx="0" ky="0" algn="bl" rotWithShape="0" blurRad="290837" dist="50607" dir="2700000">
              <a:srgbClr val="788fa3">
                <a:alpha val="6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40231" y="2241911"/>
            <a:ext cx="637540" cy="63795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6244" y="2408490"/>
            <a:ext cx="665096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7030" y="3448685"/>
            <a:ext cx="3841115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Revolutionary Concept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7825" y="3830955"/>
            <a:ext cx="3818890" cy="16637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Introducing a groundbreaking engine where a single 3D world is experienced differently by humans and AI. Humans see rich textures and colors, while AI perceives dense embedding vectors, creating a unified yet distinct reality.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08805" y="2708910"/>
            <a:ext cx="3631565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 Visual Experience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38955" y="3091815"/>
            <a:ext cx="3745230" cy="13864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Humans interact with the world through vivid visuals, similar to No Man’s Sky, where textures and colors bring the environment to life, enhancing immersion and emotional engagement.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14030" y="3430270"/>
            <a:ext cx="3841115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Data Perception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60385" y="3813175"/>
            <a:ext cx="3745230" cy="13864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agents navigate the same world using high-dimensional embeddings, enabling them to process and understand the environment through machine-native data, optimizing their actions.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9" name="Text 16"/>
          <p:cNvSpPr/>
          <p:nvPr/>
        </p:nvSpPr>
        <p:spPr>
          <a:xfrm>
            <a:off x="713105" y="403225"/>
            <a:ext cx="600710" cy="6019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70280" y="514350"/>
            <a:ext cx="10520680" cy="658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 World, Two Lenses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2-d2nf8518bjvh7rlj09b0.jpe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8038" r="0" t="12855" b="10906"/>
          <a:stretch/>
        </p:blipFill>
        <p:spPr>
          <a:xfrm>
            <a:off x="0" y="2540"/>
            <a:ext cx="546608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37465" y="-62865"/>
            <a:ext cx="5473700" cy="6913245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D4EDF8">
                  <a:alpha val="26000"/>
                </a:srgbClr>
              </a:gs>
              <a:gs pos="50000">
                <a:srgbClr val="28A4DE">
                  <a:alpha val="0"/>
                </a:srgbClr>
              </a:gs>
              <a:gs pos="100000">
                <a:srgbClr val="115372">
                  <a:alpha val="26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-37465" y="-62865"/>
            <a:ext cx="5473700" cy="6913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3:32-d2nf8518bjvh7rlj09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103" y="127000"/>
            <a:ext cx="7448551" cy="492760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8-27-20:03:31-d2nf84p8bjvh7rlj09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743438" y="-306388"/>
            <a:ext cx="4338956" cy="4752341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8-27-20:03:31-d2nf84p8bjvh7rlj09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198" y="2140267"/>
            <a:ext cx="4338956" cy="4752341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 rot="16200000">
            <a:off x="7122795" y="1765300"/>
            <a:ext cx="6875780" cy="3311525"/>
          </a:xfrm>
          <a:prstGeom prst="rect">
            <a:avLst/>
          </a:prstGeom>
          <a:solidFill>
            <a:srgbClr val="D3D8E0"/>
          </a:solidFill>
          <a:ln/>
        </p:spPr>
      </p:sp>
      <p:sp>
        <p:nvSpPr>
          <p:cNvPr id="9" name="Text 3"/>
          <p:cNvSpPr/>
          <p:nvPr/>
        </p:nvSpPr>
        <p:spPr>
          <a:xfrm rot="16200000">
            <a:off x="7122795" y="1765300"/>
            <a:ext cx="6875780" cy="331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880735" y="1061085"/>
            <a:ext cx="27482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Familiar Game UI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5763895" y="3161665"/>
            <a:ext cx="3046730" cy="190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human client features a UI blending No Man’s Sky’s immersive environments with Diablo 2’s intuitive chat system, ensuring players feel at home while exploring and interacting.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311785" y="1061085"/>
            <a:ext cx="4828540" cy="2112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 Client Interface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145270" y="1061085"/>
            <a:ext cx="27482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Intuitive Interaction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028430" y="3161665"/>
            <a:ext cx="3046730" cy="221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Players can explore, communicate, and manipulate the world using familiar visual metaphors, making the experience seamless and engaging through color, texture, and spatial design.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3:31-d2nf84p8bjvh7rlj09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563" y="2286395"/>
            <a:ext cx="4338956" cy="47523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2470" y="4015740"/>
            <a:ext cx="5337175" cy="2405380"/>
          </a:xfrm>
          <a:prstGeom prst="snip1Rect">
            <a:avLst>
              <a:gd name="adj" fmla="val 41715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2470" y="4015740"/>
            <a:ext cx="5337175" cy="240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V="1">
            <a:off x="712470" y="1412240"/>
            <a:ext cx="5337175" cy="2405380"/>
          </a:xfrm>
          <a:prstGeom prst="snip1Rect">
            <a:avLst>
              <a:gd name="adj" fmla="val 41715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2470" y="1412240"/>
            <a:ext cx="5337175" cy="240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H="1">
            <a:off x="6174105" y="4015740"/>
            <a:ext cx="5337175" cy="2405380"/>
          </a:xfrm>
          <a:prstGeom prst="snip1Rect">
            <a:avLst>
              <a:gd name="adj" fmla="val 41715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4105" y="4015740"/>
            <a:ext cx="5337175" cy="240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flipH="1" flipV="1">
            <a:off x="6174105" y="1431925"/>
            <a:ext cx="5337175" cy="2405380"/>
          </a:xfrm>
          <a:prstGeom prst="snip1Rect">
            <a:avLst>
              <a:gd name="adj" fmla="val 41715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4105" y="1431925"/>
            <a:ext cx="5337175" cy="240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80110" y="1972945"/>
            <a:ext cx="4608195" cy="110913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AI client mirrors the human UI’s structure but replaces visual semantics with embedding vectors, ensuring a consistent framework for both human and AI interaction.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79475" y="1559560"/>
            <a:ext cx="4866640" cy="28892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Mirrored Structure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0110" y="4561840"/>
            <a:ext cx="4608195" cy="831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agents perceive the world through high-dimensional data, enabling them to reason and act efficiently within the shared environment, optimizing their tasks.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9625" y="4173855"/>
            <a:ext cx="4936490" cy="28892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Machine-Native Cognition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35140" y="4561840"/>
            <a:ext cx="4464685" cy="831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Despite different perception methods, the AI client maintains logical consistency with the human client, ensuring a cohesive experience in the shared world.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32575" y="4173855"/>
            <a:ext cx="4702175" cy="28892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Unified Logic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35140" y="1972945"/>
            <a:ext cx="4464685" cy="831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AI interface processes embeddings in real time, allowing AI agents to respond dynamically to changes in the environment, ensuring seamless interaction.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32575" y="1559560"/>
            <a:ext cx="4702810" cy="28892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22" name="Text 19"/>
          <p:cNvSpPr/>
          <p:nvPr/>
        </p:nvSpPr>
        <p:spPr>
          <a:xfrm>
            <a:off x="713105" y="403225"/>
            <a:ext cx="600710" cy="6019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70280" y="514350"/>
            <a:ext cx="10520680" cy="658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Client Interface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55445" y="4226746"/>
            <a:ext cx="727394" cy="368114"/>
          </a:xfrm>
          <a:custGeom>
            <a:avLst/>
            <a:gdLst/>
            <a:ahLst/>
            <a:cxnLst/>
            <a:rect l="l" t="t" r="r" b="b"/>
            <a:pathLst>
              <a:path w="727394" h="368114">
                <a:moveTo>
                  <a:pt x="727394" y="262598"/>
                </a:moveTo>
                <a:lnTo>
                  <a:pt x="81193" y="36811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66D80"/>
              </a:gs>
              <a:gs pos="1000">
                <a:srgbClr val="566D80"/>
              </a:gs>
              <a:gs pos="78000">
                <a:srgbClr val="303D47"/>
              </a:gs>
              <a:gs pos="100000">
                <a:srgbClr val="303D47"/>
              </a:gs>
            </a:gsLst>
            <a:lin ang="16200000" scaled="1"/>
          </a:gradFill>
          <a:ln/>
        </p:spPr>
      </p:sp>
      <p:sp>
        <p:nvSpPr>
          <p:cNvPr id="25" name="Text 22"/>
          <p:cNvSpPr/>
          <p:nvPr/>
        </p:nvSpPr>
        <p:spPr>
          <a:xfrm>
            <a:off x="5755445" y="4226746"/>
            <a:ext cx="727394" cy="3681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360035" y="3981527"/>
            <a:ext cx="476549" cy="613333"/>
          </a:xfrm>
          <a:custGeom>
            <a:avLst/>
            <a:gdLst/>
            <a:ahLst/>
            <a:cxnLst/>
            <a:rect l="l" t="t" r="r" b="b"/>
            <a:pathLst>
              <a:path w="476549" h="613333">
                <a:moveTo>
                  <a:pt x="0" y="0"/>
                </a:moveTo>
                <a:lnTo>
                  <a:pt x="395373" y="245047"/>
                </a:lnTo>
                <a:lnTo>
                  <a:pt x="476549" y="613333"/>
                </a:lnTo>
                <a:close/>
              </a:path>
            </a:pathLst>
          </a:custGeom>
          <a:gradFill rotWithShape="1" flip="none">
            <a:gsLst>
              <a:gs pos="0">
                <a:srgbClr val="788FA3"/>
              </a:gs>
              <a:gs pos="19000">
                <a:srgbClr val="788FA3"/>
              </a:gs>
              <a:gs pos="92000">
                <a:srgbClr val="35434E"/>
              </a:gs>
              <a:gs pos="100000">
                <a:srgbClr val="35434E"/>
              </a:gs>
            </a:gsLst>
            <a:lin ang="0" scaled="1"/>
          </a:gradFill>
          <a:ln/>
        </p:spPr>
      </p:sp>
      <p:sp>
        <p:nvSpPr>
          <p:cNvPr id="27" name="Text 24"/>
          <p:cNvSpPr/>
          <p:nvPr/>
        </p:nvSpPr>
        <p:spPr>
          <a:xfrm>
            <a:off x="5360035" y="3981527"/>
            <a:ext cx="476549" cy="6133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360035" y="3413350"/>
            <a:ext cx="395410" cy="813395"/>
          </a:xfrm>
          <a:custGeom>
            <a:avLst/>
            <a:gdLst/>
            <a:ahLst/>
            <a:cxnLst/>
            <a:rect l="l" t="t" r="r" b="b"/>
            <a:pathLst>
              <a:path w="395410" h="813395">
                <a:moveTo>
                  <a:pt x="0" y="568230"/>
                </a:moveTo>
                <a:lnTo>
                  <a:pt x="310406" y="0"/>
                </a:lnTo>
                <a:lnTo>
                  <a:pt x="395410" y="813395"/>
                </a:lnTo>
                <a:close/>
              </a:path>
            </a:pathLst>
          </a:custGeom>
          <a:gradFill rotWithShape="1" flip="none">
            <a:gsLst>
              <a:gs pos="0">
                <a:srgbClr val="8DA1B3"/>
              </a:gs>
              <a:gs pos="100000">
                <a:srgbClr val="4B5F6D"/>
              </a:gs>
            </a:gsLst>
            <a:lin ang="600000" scaled="1"/>
          </a:gradFill>
          <a:ln/>
        </p:spPr>
      </p:sp>
      <p:sp>
        <p:nvSpPr>
          <p:cNvPr id="29" name="Text 26"/>
          <p:cNvSpPr/>
          <p:nvPr/>
        </p:nvSpPr>
        <p:spPr>
          <a:xfrm>
            <a:off x="5360035" y="3413350"/>
            <a:ext cx="395410" cy="8133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755445" y="3712872"/>
            <a:ext cx="727394" cy="776241"/>
          </a:xfrm>
          <a:custGeom>
            <a:avLst/>
            <a:gdLst/>
            <a:ahLst/>
            <a:cxnLst/>
            <a:rect l="l" t="t" r="r" b="b"/>
            <a:pathLst>
              <a:path w="727394" h="776241">
                <a:moveTo>
                  <a:pt x="694917" y="0"/>
                </a:moveTo>
                <a:lnTo>
                  <a:pt x="727394" y="776241"/>
                </a:lnTo>
                <a:lnTo>
                  <a:pt x="0" y="513514"/>
                </a:lnTo>
                <a:close/>
              </a:path>
            </a:pathLst>
          </a:custGeom>
          <a:gradFill rotWithShape="1" flip="none">
            <a:gsLst>
              <a:gs pos="0">
                <a:srgbClr val="28323A"/>
              </a:gs>
              <a:gs pos="36000">
                <a:srgbClr val="28323A"/>
              </a:gs>
              <a:gs pos="100000">
                <a:srgbClr val="637D92"/>
              </a:gs>
            </a:gsLst>
            <a:lin ang="1800000" scaled="1"/>
          </a:gradFill>
          <a:ln/>
        </p:spPr>
      </p:sp>
      <p:sp>
        <p:nvSpPr>
          <p:cNvPr id="31" name="Text 28"/>
          <p:cNvSpPr/>
          <p:nvPr/>
        </p:nvSpPr>
        <p:spPr>
          <a:xfrm>
            <a:off x="5755445" y="3712872"/>
            <a:ext cx="727394" cy="77624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75416" y="3226435"/>
            <a:ext cx="462264" cy="632768"/>
          </a:xfrm>
          <a:custGeom>
            <a:avLst/>
            <a:gdLst/>
            <a:ahLst/>
            <a:cxnLst/>
            <a:rect l="l" t="t" r="r" b="b"/>
            <a:pathLst>
              <a:path w="462264" h="632768">
                <a:moveTo>
                  <a:pt x="74974" y="486524"/>
                </a:moveTo>
                <a:lnTo>
                  <a:pt x="0" y="0"/>
                </a:lnTo>
                <a:lnTo>
                  <a:pt x="462264" y="632768"/>
                </a:lnTo>
                <a:close/>
              </a:path>
            </a:pathLst>
          </a:custGeom>
          <a:gradFill rotWithShape="1" flip="none">
            <a:gsLst>
              <a:gs pos="0">
                <a:srgbClr val="788FA3"/>
              </a:gs>
              <a:gs pos="1000">
                <a:srgbClr val="788FA3"/>
              </a:gs>
              <a:gs pos="92000">
                <a:srgbClr val="35434E"/>
              </a:gs>
              <a:gs pos="100000">
                <a:srgbClr val="35434E"/>
              </a:gs>
            </a:gsLst>
            <a:lin ang="9600000" scaled="1"/>
          </a:gradFill>
          <a:ln/>
        </p:spPr>
      </p:sp>
      <p:sp>
        <p:nvSpPr>
          <p:cNvPr id="33" name="Text 30"/>
          <p:cNvSpPr/>
          <p:nvPr/>
        </p:nvSpPr>
        <p:spPr>
          <a:xfrm>
            <a:off x="6375416" y="3226435"/>
            <a:ext cx="462264" cy="63276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50270" y="3712872"/>
            <a:ext cx="387410" cy="776241"/>
          </a:xfrm>
          <a:custGeom>
            <a:avLst/>
            <a:gdLst/>
            <a:ahLst/>
            <a:cxnLst/>
            <a:rect l="l" t="t" r="r" b="b"/>
            <a:pathLst>
              <a:path w="387410" h="776241">
                <a:moveTo>
                  <a:pt x="0" y="0"/>
                </a:moveTo>
                <a:lnTo>
                  <a:pt x="387410" y="146172"/>
                </a:lnTo>
                <a:lnTo>
                  <a:pt x="32483" y="776241"/>
                </a:lnTo>
                <a:close/>
              </a:path>
            </a:pathLst>
          </a:custGeom>
          <a:gradFill rotWithShape="1" flip="none">
            <a:gsLst>
              <a:gs pos="0">
                <a:srgbClr val="28323A"/>
              </a:gs>
              <a:gs pos="28000">
                <a:srgbClr val="28323A"/>
              </a:gs>
              <a:gs pos="100000">
                <a:srgbClr val="637D92"/>
              </a:gs>
            </a:gsLst>
            <a:lin ang="0" scaled="1"/>
          </a:gradFill>
          <a:ln/>
        </p:spPr>
      </p:sp>
      <p:sp>
        <p:nvSpPr>
          <p:cNvPr id="35" name="Text 32"/>
          <p:cNvSpPr/>
          <p:nvPr/>
        </p:nvSpPr>
        <p:spPr>
          <a:xfrm>
            <a:off x="6450270" y="3712872"/>
            <a:ext cx="387410" cy="77624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670306" y="3226435"/>
            <a:ext cx="779963" cy="486437"/>
          </a:xfrm>
          <a:custGeom>
            <a:avLst/>
            <a:gdLst/>
            <a:ahLst/>
            <a:cxnLst/>
            <a:rect l="l" t="t" r="r" b="b"/>
            <a:pathLst>
              <a:path w="779963" h="486437">
                <a:moveTo>
                  <a:pt x="0" y="186834"/>
                </a:moveTo>
                <a:lnTo>
                  <a:pt x="704976" y="0"/>
                </a:lnTo>
                <a:lnTo>
                  <a:pt x="779963" y="486437"/>
                </a:lnTo>
                <a:close/>
              </a:path>
            </a:pathLst>
          </a:custGeom>
          <a:gradFill rotWithShape="1" flip="none">
            <a:gsLst>
              <a:gs pos="0">
                <a:srgbClr val="829AAB"/>
              </a:gs>
              <a:gs pos="100000">
                <a:srgbClr val="35434E"/>
              </a:gs>
            </a:gsLst>
            <a:lin ang="7200000" scaled="1"/>
          </a:gradFill>
          <a:ln/>
        </p:spPr>
      </p:sp>
      <p:sp>
        <p:nvSpPr>
          <p:cNvPr id="37" name="Text 34"/>
          <p:cNvSpPr/>
          <p:nvPr/>
        </p:nvSpPr>
        <p:spPr>
          <a:xfrm>
            <a:off x="5670306" y="3226435"/>
            <a:ext cx="779963" cy="48643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670306" y="3413350"/>
            <a:ext cx="779963" cy="813395"/>
          </a:xfrm>
          <a:custGeom>
            <a:avLst/>
            <a:gdLst/>
            <a:ahLst/>
            <a:cxnLst/>
            <a:rect l="l" t="t" r="r" b="b"/>
            <a:pathLst>
              <a:path w="779963" h="813395">
                <a:moveTo>
                  <a:pt x="0" y="0"/>
                </a:moveTo>
                <a:lnTo>
                  <a:pt x="779963" y="299647"/>
                </a:lnTo>
                <a:lnTo>
                  <a:pt x="85017" y="813395"/>
                </a:lnTo>
                <a:close/>
              </a:path>
            </a:pathLst>
          </a:custGeom>
          <a:gradFill rotWithShape="1" flip="none">
            <a:gsLst>
              <a:gs pos="0">
                <a:srgbClr val="AEBCC8"/>
              </a:gs>
              <a:gs pos="100000">
                <a:srgbClr val="597082"/>
              </a:gs>
            </a:gsLst>
            <a:lin ang="2700000" scaled="1"/>
          </a:gradFill>
          <a:ln/>
        </p:spPr>
      </p:sp>
      <p:sp>
        <p:nvSpPr>
          <p:cNvPr id="39" name="Text 36"/>
          <p:cNvSpPr/>
          <p:nvPr/>
        </p:nvSpPr>
        <p:spPr>
          <a:xfrm>
            <a:off x="5670306" y="3413350"/>
            <a:ext cx="779963" cy="8133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3-d2nf8598bjvh7rlj09bg.png">    </p:cNvPr>
          <p:cNvPicPr>
            <a:picLocks noChangeAspect="1"/>
          </p:cNvPicPr>
          <p:nvPr/>
        </p:nvPicPr>
        <p:blipFill>
          <a:blip r:embed="rId1"/>
          <a:srcRect l="8389" r="0" t="15000" b="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40180" y="3517900"/>
            <a:ext cx="951674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Shared Geometry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24645" y="3373120"/>
            <a:ext cx="4029075" cy="4029075"/>
          </a:xfrm>
          <a:prstGeom prst="ellipse">
            <a:avLst/>
          </a:prstGeom>
          <a:solidFill>
            <a:srgbClr val="FFFFFF">
              <a:alpha val="10196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224645" y="3373120"/>
            <a:ext cx="4029075" cy="402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3:31-d2nf84p8bjvh7rlj09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5198" y="2140267"/>
            <a:ext cx="4338956" cy="4752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 rot="10800000">
            <a:off x="4872208" y="4208581"/>
            <a:ext cx="1217236" cy="1865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8-27-20:03:30-d2nf84h8bjvh7rlj09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683" y="463550"/>
            <a:ext cx="495363" cy="20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9390" y="800612"/>
            <a:ext cx="756883" cy="1865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</a:t>
            </a:r>
            <a:endParaRPr lang="en-US" sz="1600" dirty="0"/>
          </a:p>
        </p:txBody>
      </p:sp>
      <p:pic>
        <p:nvPicPr>
          <p:cNvPr id="8" name="Image 2" descr="https://kimi-img.moonshot.cn/pub/slides/slides_tmpl/image/25-08-27-20:03:31-d2nf84p8bjvh7rlj0970.jpeg">    </p:cNvPr>
          <p:cNvPicPr>
            <a:picLocks noChangeAspect="1"/>
          </p:cNvPicPr>
          <p:nvPr/>
        </p:nvPicPr>
        <p:blipFill>
          <a:blip r:embed="rId3"/>
          <a:srcRect l="5449" r="281" t="5704" b="8217"/>
          <a:stretch/>
        </p:blipFill>
        <p:spPr>
          <a:xfrm>
            <a:off x="6610985" y="-20955"/>
            <a:ext cx="5677535" cy="6913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6345" y="3275965"/>
            <a:ext cx="5042535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Geometric Model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236345" y="3816985"/>
            <a:ext cx="4665980" cy="179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engine maintains a single authoritative 3D model, ensuring that both humans and AI interact with the same underlying geometry, promoting consistency and efficiency.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36345" y="1628775"/>
            <a:ext cx="5020945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Unified 3D Canvas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6545" y="1449705"/>
            <a:ext cx="7505700" cy="1700530"/>
          </a:xfrm>
          <a:prstGeom prst="roundRect">
            <a:avLst>
              <a:gd name="adj" fmla="val 4248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06545" y="1449705"/>
            <a:ext cx="7505700" cy="170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77995" y="1582420"/>
            <a:ext cx="7212330" cy="40195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 Visual Perception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3:34-d2nf85h8bjvh7rlj09f0.jpg">    </p:cNvPr>
          <p:cNvPicPr>
            <a:picLocks noChangeAspect="1"/>
          </p:cNvPicPr>
          <p:nvPr/>
        </p:nvPicPr>
        <p:blipFill>
          <a:blip r:embed="rId1"/>
          <a:srcRect l="30741" r="31441" t="4671" b="0"/>
          <a:stretch/>
        </p:blipFill>
        <p:spPr>
          <a:xfrm>
            <a:off x="537845" y="1432560"/>
            <a:ext cx="3388360" cy="4804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21810" y="2058670"/>
            <a:ext cx="7278370" cy="1259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Humans see detailed textures and colors, such as a stone wall’s age and material, enhancing their emotional connection to the environment.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89095" y="3265805"/>
            <a:ext cx="3619500" cy="2957195"/>
          </a:xfrm>
          <a:prstGeom prst="roundRect">
            <a:avLst>
              <a:gd name="adj" fmla="val 4248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89095" y="3265805"/>
            <a:ext cx="3619500" cy="295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40530" y="3369310"/>
            <a:ext cx="3530600" cy="76771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Data Representation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25925" y="3975100"/>
            <a:ext cx="3538220" cy="2146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perceives the same wall as a compact vector summarizing composition, durability, and semantic role, enabling efficient processing and decision-making.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992745" y="3265805"/>
            <a:ext cx="3619500" cy="2957195"/>
          </a:xfrm>
          <a:prstGeom prst="roundRect">
            <a:avLst>
              <a:gd name="adj" fmla="val 4248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92745" y="3265805"/>
            <a:ext cx="3619500" cy="295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4180" y="3369310"/>
            <a:ext cx="3530600" cy="76771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Dual Representation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29575" y="3975100"/>
            <a:ext cx="3538220" cy="2146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 representations are derived from one underlying mesh, ensuring that changes in one view are instantly reflected in the other.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6" name="Text 13"/>
          <p:cNvSpPr/>
          <p:nvPr/>
        </p:nvSpPr>
        <p:spPr>
          <a:xfrm>
            <a:off x="713105" y="403225"/>
            <a:ext cx="600710" cy="6019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70280" y="514350"/>
            <a:ext cx="10520680" cy="658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Texture vs Embedding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3:31-d2nf84p8bjvh7rlj09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026" y="1465177"/>
            <a:ext cx="33872" cy="2188633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3:31-d2nf84p8bjvh7rlj09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23" y="3982769"/>
            <a:ext cx="33872" cy="218863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8-27-20:03:32-d2nf8518bjvh7rlj09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640" y="1787525"/>
            <a:ext cx="5606417" cy="438404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25855" y="1649730"/>
            <a:ext cx="4627245" cy="1121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125855" y="2146300"/>
            <a:ext cx="4582795" cy="159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synchronization engine ensures that every change, whether made by humans or AI, is reflected instantly across both views, maintaining consistency.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125855" y="4108450"/>
            <a:ext cx="4627245" cy="1121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Conflict Resolution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25855" y="4675505"/>
            <a:ext cx="4583430" cy="159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engine resolves conflicts between human actions and AI logic, ensuring a smooth and cohesive experience in the shared world.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2" name="Text 7"/>
          <p:cNvSpPr/>
          <p:nvPr/>
        </p:nvSpPr>
        <p:spPr>
          <a:xfrm>
            <a:off x="713105" y="403225"/>
            <a:ext cx="600710" cy="6019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70280" y="514350"/>
            <a:ext cx="10520680" cy="658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Synchronization Engine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007735" y="1803400"/>
            <a:ext cx="5600065" cy="4361180"/>
          </a:xfrm>
          <a:prstGeom prst="roundRect">
            <a:avLst>
              <a:gd name="adj" fmla="val 2351"/>
            </a:avLst>
          </a:prstGeom>
          <a:gradFill rotWithShape="1" flip="none">
            <a:gsLst>
              <a:gs pos="0">
                <a:srgbClr val="D4EDF8">
                  <a:alpha val="26000"/>
                </a:srgbClr>
              </a:gs>
              <a:gs pos="50000">
                <a:srgbClr val="28A4DE">
                  <a:alpha val="0"/>
                </a:srgbClr>
              </a:gs>
              <a:gs pos="100000">
                <a:srgbClr val="115372">
                  <a:alpha val="26000"/>
                </a:srgbClr>
              </a:gs>
            </a:gsLst>
            <a:lin ang="2700000" scaled="1"/>
          </a:gradFill>
          <a:ln/>
        </p:spPr>
      </p:sp>
      <p:sp>
        <p:nvSpPr>
          <p:cNvPr id="15" name="Text 10"/>
          <p:cNvSpPr/>
          <p:nvPr/>
        </p:nvSpPr>
        <p:spPr>
          <a:xfrm>
            <a:off x="6007735" y="1803400"/>
            <a:ext cx="5600065" cy="436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3-d2nf8598bjvh7rlj09bg.png">    </p:cNvPr>
          <p:cNvPicPr>
            <a:picLocks noChangeAspect="1"/>
          </p:cNvPicPr>
          <p:nvPr/>
        </p:nvPicPr>
        <p:blipFill>
          <a:blip r:embed="rId1"/>
          <a:srcRect l="8389" r="0" t="15000" b="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40180" y="3517900"/>
            <a:ext cx="951674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Interaction Paradigms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370" y="1716405"/>
            <a:ext cx="5551805" cy="1913890"/>
          </a:xfrm>
          <a:prstGeom prst="roundRect">
            <a:avLst>
              <a:gd name="adj" fmla="val 4433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370" y="1716405"/>
            <a:ext cx="5551805" cy="191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166485" y="1716405"/>
            <a:ext cx="5551805" cy="1913890"/>
          </a:xfrm>
          <a:prstGeom prst="roundRect">
            <a:avLst>
              <a:gd name="adj" fmla="val 4433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66485" y="1716405"/>
            <a:ext cx="5551805" cy="191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370" y="4012565"/>
            <a:ext cx="5551805" cy="1913890"/>
          </a:xfrm>
          <a:prstGeom prst="roundRect">
            <a:avLst>
              <a:gd name="adj" fmla="val 4433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370" y="4012565"/>
            <a:ext cx="5551805" cy="191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66485" y="4012565"/>
            <a:ext cx="5551805" cy="1913890"/>
          </a:xfrm>
          <a:prstGeom prst="roundRect">
            <a:avLst>
              <a:gd name="adj" fmla="val 4433"/>
            </a:avLst>
          </a:prstGeom>
          <a:gradFill rotWithShape="1" flip="none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66485" y="4012565"/>
            <a:ext cx="5551805" cy="191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9930" y="2359025"/>
            <a:ext cx="5093335" cy="114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Humans and AI agents can collaborate seamlessly, such as a human mining resources visible as glowing nodes while an AI drone optimizes collection paths.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4375" y="1908810"/>
            <a:ext cx="50838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Human-AI Cooperation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375" y="4638675"/>
            <a:ext cx="5093335" cy="114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Their actions interleave seamlessly through the shared world state, promoting efficient teamwork and joint problem-solving.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8820" y="4188460"/>
            <a:ext cx="50838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Unified 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6045" y="2359025"/>
            <a:ext cx="5083175" cy="114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engine supports dynamic interaction, allowing humans and AI to adapt their actions based on real-time feedback from each other.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6045" y="1909445"/>
            <a:ext cx="50838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Interaction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8905" y="4638675"/>
            <a:ext cx="5083175" cy="114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collaboration enhances productivity and creativity, leveraging the strengths of both human intuition and AI efficiency.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9380" y="4189095"/>
            <a:ext cx="50838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Enhanced Productivity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rotWithShape="1" flip="none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713105" y="403225"/>
            <a:ext cx="600710" cy="6019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0280" y="514350"/>
            <a:ext cx="10520680" cy="658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Cross-Client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0-d2nf84h8bjvh7rlj0950.jpg">    </p:cNvPr>
          <p:cNvPicPr>
            <a:picLocks noChangeAspect="1"/>
          </p:cNvPicPr>
          <p:nvPr/>
        </p:nvPicPr>
        <p:blipFill>
          <a:blip r:embed="rId1"/>
          <a:srcRect l="12044" r="4782" t="24464" b="-184"/>
          <a:stretch/>
        </p:blipFill>
        <p:spPr>
          <a:xfrm>
            <a:off x="-635" y="0"/>
            <a:ext cx="12193200" cy="686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51990" y="4439920"/>
            <a:ext cx="8357870" cy="152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Geometric forms become a universal language, where shapes, colors, and vectors encode meaning, enabling mutual understanding between humans and AI without translation.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51990" y="2729865"/>
            <a:ext cx="8357870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Language of Shapes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51355" y="3735070"/>
            <a:ext cx="835787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Universal Language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33-d2nf8598bjvh7rlj09bg.png">    </p:cNvPr>
          <p:cNvPicPr>
            <a:picLocks noChangeAspect="1"/>
          </p:cNvPicPr>
          <p:nvPr/>
        </p:nvPicPr>
        <p:blipFill>
          <a:blip r:embed="rId1"/>
          <a:srcRect l="8389" r="0" t="15000" b="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40180" y="3517900"/>
            <a:ext cx="951674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Horizons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285" y="2637155"/>
            <a:ext cx="3931920" cy="228155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Evolving Dual Realities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07205" y="2708275"/>
            <a:ext cx="2489200" cy="17170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Mixed Teams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96405" y="2719070"/>
            <a:ext cx="5201285" cy="951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engine will support mixed human-AI teams, promoting diverse collaboration and innovation in shared tasks and projects.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07205" y="4584065"/>
            <a:ext cx="2489200" cy="17170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Procedural Content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96405" y="4594860"/>
            <a:ext cx="5201285" cy="951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Procedural content generation will be driven by joint perception metrics, creating dynamic and adaptive environments tailored to both human and AI needs.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8-27-20:03:33-d2nf8598bjvh7rlj09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0700000">
            <a:off x="701675" y="4720590"/>
            <a:ext cx="1534160" cy="1534160"/>
          </a:xfrm>
          <a:prstGeom prst="rect">
            <a:avLst/>
          </a:prstGeom>
        </p:spPr>
      </p:pic>
      <p:pic>
        <p:nvPicPr>
          <p:cNvPr id="8" name="Image 1" descr="https://kimi-img.moonshot.cn/pub/slides/slides_tmpl/image/25-08-27-20:03:33-d2nf8598bjvh7rlj09d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1675765" y="4004310"/>
            <a:ext cx="1032510" cy="103251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3:33-d2nf8598bjvh7rlj09c0.jpeg">    </p:cNvPr>
          <p:cNvPicPr>
            <a:picLocks noChangeAspect="1"/>
          </p:cNvPicPr>
          <p:nvPr/>
        </p:nvPicPr>
        <p:blipFill>
          <a:blip r:embed="rId3"/>
          <a:srcRect l="0" r="0" t="20148" b="37137"/>
          <a:stretch/>
        </p:blipFill>
        <p:spPr>
          <a:xfrm>
            <a:off x="0" y="0"/>
            <a:ext cx="12192635" cy="223202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-12065" y="5080"/>
            <a:ext cx="12216765" cy="2231390"/>
          </a:xfrm>
          <a:prstGeom prst="rect">
            <a:avLst/>
          </a:prstGeom>
          <a:gradFill rotWithShape="1" flip="none">
            <a:gsLst>
              <a:gs pos="0">
                <a:srgbClr val="D4EDF8">
                  <a:alpha val="26000"/>
                </a:srgbClr>
              </a:gs>
              <a:gs pos="50000">
                <a:srgbClr val="28A4DE">
                  <a:alpha val="0"/>
                </a:srgbClr>
              </a:gs>
              <a:gs pos="100000">
                <a:srgbClr val="115372">
                  <a:alpha val="26000"/>
                </a:srgbClr>
              </a:gs>
            </a:gsLst>
            <a:lin ang="2700000" scaled="1"/>
          </a:gradFill>
          <a:ln/>
        </p:spPr>
      </p:sp>
      <p:sp>
        <p:nvSpPr>
          <p:cNvPr id="11" name="Text 6"/>
          <p:cNvSpPr/>
          <p:nvPr/>
        </p:nvSpPr>
        <p:spPr>
          <a:xfrm>
            <a:off x="-12065" y="5080"/>
            <a:ext cx="12216765" cy="2231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348105" y="100965"/>
            <a:ext cx="6858000" cy="6656070"/>
          </a:xfrm>
          <a:prstGeom prst="round2SameRect">
            <a:avLst>
              <a:gd name="adj1" fmla="val 50000"/>
              <a:gd name="adj2" fmla="val 0"/>
            </a:avLst>
          </a:prstGeom>
          <a:gradFill rotWithShape="1" flip="none">
            <a:gsLst>
              <a:gs pos="0">
                <a:srgbClr val="28A4DE">
                  <a:alpha val="9000"/>
                </a:srgbClr>
              </a:gs>
              <a:gs pos="54000">
                <a:srgbClr val="28A4DE">
                  <a:alpha val="9000"/>
                </a:srgbClr>
              </a:gs>
              <a:gs pos="100000">
                <a:srgbClr val="232322">
                  <a:alpha val="0"/>
                </a:srgbClr>
              </a:gs>
            </a:gsLst>
            <a:lin ang="13500000" scaled="1"/>
          </a:gradFill>
          <a:ln/>
        </p:spPr>
      </p:sp>
      <p:sp>
        <p:nvSpPr>
          <p:cNvPr id="3" name="Text 1"/>
          <p:cNvSpPr/>
          <p:nvPr/>
        </p:nvSpPr>
        <p:spPr>
          <a:xfrm rot="5400000">
            <a:off x="-1348105" y="100965"/>
            <a:ext cx="6858000" cy="665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3:34-d2nf85h8bjvh7rlj09fg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3335"/>
            <a:ext cx="5393055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0" y="2703830"/>
            <a:ext cx="5916930" cy="381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Transformative Potential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0" y="3114040"/>
            <a:ext cx="5905500" cy="14846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engine has the potential to transform how we interact with virtual environments, bridging the gap between human perception and AI logic.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72100" y="4692015"/>
            <a:ext cx="5916930" cy="381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Protocol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72100" y="5102225"/>
            <a:ext cx="5905500" cy="14846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Perception itself becomes a collaborative protocol, enabling new forms of interaction and innovation in shared digital spaces.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71465" y="715010"/>
            <a:ext cx="5916930" cy="381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Open-Source Invitation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72100" y="1125220"/>
            <a:ext cx="5905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Join the open-source Knowledge3D project and contribute to a future where human creativity and machine intelligence collaborate seamlessly.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8455" y="2871470"/>
            <a:ext cx="5575300" cy="91122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 to Build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3:34-d2nf85h8bjvh7rlj09eg.png">    </p:cNvPr>
          <p:cNvPicPr>
            <a:picLocks noChangeAspect="1"/>
          </p:cNvPicPr>
          <p:nvPr/>
        </p:nvPicPr>
        <p:blipFill>
          <a:blip r:embed="rId1"/>
          <a:srcRect l="0" r="0" t="2586" b="6812"/>
          <a:stretch/>
        </p:blipFill>
        <p:spPr>
          <a:xfrm>
            <a:off x="0" y="0"/>
            <a:ext cx="12214860" cy="692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633" y="864869"/>
            <a:ext cx="7772718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3595" y="3873500"/>
            <a:ext cx="19024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74570" y="3873500"/>
            <a:ext cx="30759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2025/01/01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0000"/>
      </a:accent1>
      <a:accent2>
        <a:srgbClr val="35434E"/>
      </a:accent2>
      <a:accent3>
        <a:srgbClr val="C5C9CE"/>
      </a:accent3>
      <a:accent4>
        <a:srgbClr val="FFFFFF"/>
      </a:accent4>
      <a:accent5>
        <a:srgbClr val="808080"/>
      </a:accent5>
      <a:accent6>
        <a:srgbClr val="28A4D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Dual-Vision World Engine</dc:title>
  <dc:subject>Dual-Vision World Engine</dc:subject>
  <dc:creator>Kimi</dc:creator>
  <cp:lastModifiedBy>Kimi</cp:lastModifiedBy>
  <cp:revision>1</cp:revision>
  <dcterms:created xsi:type="dcterms:W3CDTF">2025-09-02T00:13:15Z</dcterms:created>
  <dcterms:modified xsi:type="dcterms:W3CDTF">2025-09-02T00:13:15Z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{"Label":"Dual-Vision World Engine","ContentProducer":"001191110108MACG2KBH8F10000","ProduceID":"d2r3d4t43352mja64ueg","ReservedCode1":"","ContentPropagator":"001191110108MACG2KBH8F20000","PropagateID":"d2r3d4t43352mja64ueg","ReservedCode2":""}</vt:lpwstr>
  </property>
</Properties>
</file>